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6B6E80"/>
                </a:solidFill>
                <a:latin typeface="Meiryo"/>
              </a:defRPr>
            </a:pPr>
            <a:r>
              <a:rPr sz="1400" b="0" i="0" u="none" strike="noStrike">
                <a:solidFill>
                  <a:srgbClr val="6B6E80"/>
                </a:solidFill>
                <a:latin typeface="Meiryo"/>
              </a:rPr>
              <a:t>AD・付帯系の月別売上（万円）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</c:v>
                </c:pt>
              </c:strCache>
            </c:strRef>
          </c:tx>
          <c:spPr>
            <a:solidFill>
              <a:srgbClr val="C831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40.4</c:v>
                </c:pt>
                <c:pt idx="2">
                  <c:v>18</c:v>
                </c:pt>
                <c:pt idx="3">
                  <c:v>23.9</c:v>
                </c:pt>
                <c:pt idx="4">
                  <c:v>42.4</c:v>
                </c:pt>
                <c:pt idx="5">
                  <c:v>28.9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付帯系（保険・保証・付帯商品）</c:v>
                </c:pt>
              </c:strCache>
            </c:strRef>
          </c:tx>
          <c:spPr>
            <a:solidFill>
              <a:srgbClr val="E88AA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Meiryo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3月</c:v>
                  </c:pt>
                  <c:pt idx="1">
                    <c:v>4月</c:v>
                  </c:pt>
                  <c:pt idx="2">
                    <c:v>5月</c:v>
                  </c:pt>
                  <c:pt idx="3">
                    <c:v>6月</c:v>
                  </c:pt>
                  <c:pt idx="4">
                    <c:v>7月</c:v>
                  </c:pt>
                  <c:pt idx="5">
                    <c:v>8月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0.6</c:v>
                </c:pt>
                <c:pt idx="1">
                  <c:v>5</c:v>
                </c:pt>
                <c:pt idx="2">
                  <c:v>11.5</c:v>
                </c:pt>
                <c:pt idx="3">
                  <c:v>18.2</c:v>
                </c:pt>
                <c:pt idx="4">
                  <c:v>18.3</c:v>
                </c:pt>
                <c:pt idx="5">
                  <c:v>18.6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Meiry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4EA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B2D42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B2D42"/>
              </a:solidFill>
              <a:latin typeface="Meiryo"/>
              <a:cs typeface="Meiryo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初に結論です。3月から8月の半年で売上は1,676万円、年間目標2,500万円の67%まで来ました。このペースなら年間で3,000万円を超えます。伸びているのはADと付帯系の手数料です。この勢いを続けるために、営業が現地でしかできない仕事に集中できる仕組みをつ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年度は3月始まりなので、8月末でちょうど半年です。半年で1,676万円、年間目標2,500万円の67%で、計画の50%を大きく上回っています。このペースが続けば年間で約3,350万円、昨年の2,400万円を大きく超えます。8月は売買の大きな案件があったので、売買を除いた見込みでも約2,880万円です。残り6ヶ月は月137万円で目標に届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伸びを支えているのはADと付帯系の手数料です。ADは3月から8月で193.6万円、月平均で約32万円入っています。火災保険や保証会社の紹介手数料などの付帯系は、3月の0.6万円から8月は18.6万円まで増えました。これは営業が接客のたびにきちんと提案できているからで、この時間をもっと増やしたいと考え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考え方はシンプルです。営業の仕事を「現地でしかできないこと」と「そうでないこと」に分けます。物件の案内や接客、オーナーへの提案、現地の確認は営業にしかできません。一方で、物件入力や写真掲載は営業でなくてもできるので、パートの臼井さんと川上さんにお願いします。会計は現地でなくてもできるのでDFEに、クレームの一次対応は駆けつけサービスに任せ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具体的にやることは3つです。10月中にパートさんへの引き継ぎとDFEとの契約、11月から会計を移し、12月に駆けつけサービスを稼働させます。毎月末に売上と進み具合を確認します。最後に1点、DFEと駆けつけサービスの外注予算についてご判断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B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さくらハウジング　2026年9月 進捗報告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80160"/>
            <a:ext cx="7223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半年で目標の67%。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年間3,000万円超えのペース。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営業を現地に集中させて、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さらに伸ばします。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425196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5196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425196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3〜8月で 1,676万円（年間目標 2,500万円）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89204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伸び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489204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 と 付帯系の手数料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532120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5321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打ち手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553212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入力→パートさん／会計→DFE／クレーム→駆けつけ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412480" y="731520"/>
            <a:ext cx="3230575" cy="5394960"/>
          </a:xfrm>
          <a:prstGeom prst="roundRect">
            <a:avLst>
              <a:gd name="adj" fmla="val 2830"/>
            </a:avLst>
          </a:prstGeom>
          <a:solidFill>
            <a:srgbClr val="3A3D55"/>
          </a:solidFill>
          <a:ln w="15875">
            <a:solidFill>
              <a:srgbClr val="F2B8CA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8412480" y="731520"/>
            <a:ext cx="3230575" cy="539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B8C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店舗・現場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現状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半年で目標の67%。年間3,000万円を超えるペース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263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/ 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昨年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年間実績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今年の目標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今年の見込み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このペースなら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468880" y="1828800"/>
            <a:ext cx="3260489" cy="731520"/>
          </a:xfrm>
          <a:prstGeom prst="rect">
            <a:avLst/>
          </a:prstGeom>
          <a:solidFill>
            <a:srgbClr val="D5D7DF"/>
          </a:solidFill>
          <a:ln w="12700">
            <a:solidFill>
              <a:srgbClr val="D5D7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606040" y="1828800"/>
            <a:ext cx="29861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2,400万円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468880" y="2971800"/>
            <a:ext cx="3396343" cy="731520"/>
          </a:xfrm>
          <a:prstGeom prst="rect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02383" y="2971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2,500万円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68880" y="4114800"/>
            <a:ext cx="2276908" cy="731520"/>
          </a:xfrm>
          <a:prstGeom prst="rect">
            <a:avLst/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45788" y="4114800"/>
            <a:ext cx="2274191" cy="731520"/>
          </a:xfrm>
          <a:prstGeom prst="rect">
            <a:avLst/>
          </a:prstGeom>
          <a:solidFill>
            <a:srgbClr val="F2B8CA"/>
          </a:solidFill>
          <a:ln w="12700">
            <a:solidFill>
              <a:srgbClr val="F2B8C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4114800"/>
            <a:ext cx="20025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3〜8月 実績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1,676万円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45788" y="5020056"/>
            <a:ext cx="164592" cy="164592"/>
          </a:xfrm>
          <a:prstGeom prst="rect">
            <a:avLst/>
          </a:prstGeom>
          <a:solidFill>
            <a:srgbClr val="F2B8CA"/>
          </a:solidFill>
          <a:ln w="12700">
            <a:solidFill>
              <a:srgbClr val="F2B8C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01820" y="4956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9〜2月の見込み（同じペースなら）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57139" y="4114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約3,350万円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865223" y="1645920"/>
            <a:ext cx="0" cy="3246120"/>
          </a:xfrm>
          <a:prstGeom prst="line">
            <a:avLst/>
          </a:prstGeom>
          <a:noFill/>
          <a:ln w="15875">
            <a:solidFill>
              <a:srgbClr val="2B2D4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9098280" y="1828800"/>
            <a:ext cx="2544775" cy="1463040"/>
          </a:xfrm>
          <a:prstGeom prst="roundRect">
            <a:avLst>
              <a:gd name="adj" fmla="val 7500"/>
            </a:avLst>
          </a:prstGeom>
          <a:solidFill>
            <a:srgbClr val="FBE9EF"/>
          </a:solidFill>
          <a:ln w="12700">
            <a:solidFill>
              <a:srgbClr val="FBE9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26880" y="1828800"/>
            <a:ext cx="21790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半年で達成率</a:t>
            </a:r>
            <a:endParaRPr lang="en-US" sz="1300" dirty="0"/>
          </a:p>
          <a:p>
            <a:pPr indent="0" marL="0">
              <a:buNone/>
            </a:pPr>
            <a:r>
              <a:rPr lang="en-US" sz="36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67%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 50%より +17pt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098280" y="3566160"/>
            <a:ext cx="2544775" cy="1280160"/>
          </a:xfrm>
          <a:prstGeom prst="roundRect">
            <a:avLst>
              <a:gd name="adj" fmla="val 8571"/>
            </a:avLst>
          </a:prstGeom>
          <a:solidFill>
            <a:srgbClr val="E6F4ED"/>
          </a:solidFill>
          <a:ln w="12700">
            <a:solidFill>
              <a:srgbClr val="E6F4E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0" y="3566160"/>
            <a:ext cx="2179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残り6ヶ月は</a:t>
            </a:r>
            <a:endParaRPr lang="en-US" sz="13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E8B6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月137万円で達成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今の月平均 279万円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※売買仲介を含む。見込み＝3〜8月の月平均×12ヶ月。売買仲介を除くと 3〜8月 1,441万円・見込み 約2,880万円。昨年は年間実績（社内聞き取り）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伸びている理由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 に加えて、付帯系の手数料が大きく伸びている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263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/ 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7498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691640"/>
            <a:ext cx="3230575" cy="1554480"/>
          </a:xfrm>
          <a:prstGeom prst="roundRect">
            <a:avLst>
              <a:gd name="adj" fmla="val 705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0" y="1965960"/>
            <a:ext cx="182880" cy="182880"/>
          </a:xfrm>
          <a:prstGeom prst="ellipse">
            <a:avLst/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61120" y="1874520"/>
            <a:ext cx="2499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AD（受取広告料）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4028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193.6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万円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283464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3〜8月の合計（月平均 約32万円）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12480" y="3474720"/>
            <a:ext cx="3230575" cy="1554480"/>
          </a:xfrm>
          <a:prstGeom prst="roundRect">
            <a:avLst>
              <a:gd name="adj" fmla="val 7059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0" y="3749040"/>
            <a:ext cx="182880" cy="182880"/>
          </a:xfrm>
          <a:prstGeom prst="ellipse">
            <a:avLst/>
          </a:prstGeom>
          <a:solidFill>
            <a:srgbClr val="E88AA8"/>
          </a:solidFill>
          <a:ln w="12700">
            <a:solidFill>
              <a:srgbClr val="E88AA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0" y="3657600"/>
            <a:ext cx="2499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付帯系の手数料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686800" y="4023360"/>
            <a:ext cx="2773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0.6 → 18.6</a:t>
            </a:r>
            <a:pPr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万円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617720"/>
            <a:ext cx="2773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3月 → 8月（1ヶ月あたり）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5349240"/>
            <a:ext cx="3230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※付帯系＝火災保険・保証会社の紹介手数料＋付帯商品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仕組み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営業は「現地でしかできないこと」に集中する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263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/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572000" cy="4343400"/>
          </a:xfrm>
          <a:prstGeom prst="roundRect">
            <a:avLst>
              <a:gd name="adj" fmla="val 2526"/>
            </a:avLst>
          </a:prstGeom>
          <a:solidFill>
            <a:srgbClr val="FBE9EF"/>
          </a:solidFill>
          <a:ln w="12700">
            <a:solidFill>
              <a:srgbClr val="FB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2024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C8315F"/>
          </a:solidFill>
          <a:ln w="12700">
            <a:solidFill>
              <a:srgbClr val="C8315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20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営業がやる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現地でしかできないこと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718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物件の案内・接客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オーナーへの提案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現地の確認・立会い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420624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4F5F8"/>
          </a:solidFill>
          <a:ln w="15875">
            <a:solidFill>
              <a:srgbClr val="6B6E80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822960" y="420624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現地（案内・立会い）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303520" y="3497580"/>
            <a:ext cx="914400" cy="640080"/>
          </a:xfrm>
          <a:prstGeom prst="rightArrow">
            <a:avLst/>
          </a:prstGeom>
          <a:solidFill>
            <a:srgbClr val="F2B8CA"/>
          </a:solidFill>
          <a:ln w="12700">
            <a:solidFill>
              <a:srgbClr val="F2B8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42291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外に出す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5242255" cy="1783080"/>
          </a:xfrm>
          <a:prstGeom prst="roundRect">
            <a:avLst>
              <a:gd name="adj" fmla="val 6154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営業でなくてもできる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148840"/>
            <a:ext cx="2590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物件入力・写真掲載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パートさん（週2日）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11335" y="1828800"/>
            <a:ext cx="960120" cy="109728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5875">
            <a:solidFill>
              <a:srgbClr val="6B6E80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9311335" y="18288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臼井さん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219895" y="29992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臼井さん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454335" y="1828800"/>
            <a:ext cx="960120" cy="1097280"/>
          </a:xfrm>
          <a:prstGeom prst="roundRect">
            <a:avLst>
              <a:gd name="adj" fmla="val 9524"/>
            </a:avLst>
          </a:prstGeom>
          <a:solidFill>
            <a:srgbClr val="F4F5F8"/>
          </a:solidFill>
          <a:ln w="15875">
            <a:solidFill>
              <a:srgbClr val="6B6E80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10454335" y="1828800"/>
            <a:ext cx="960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川上さん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362895" y="29992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川上さん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5242255" cy="109728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現地でなくてもできる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251960"/>
            <a:ext cx="4693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会計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DFE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400800" y="5166360"/>
            <a:ext cx="5242255" cy="1097280"/>
          </a:xfrm>
          <a:prstGeom prst="roundRect">
            <a:avLst>
              <a:gd name="adj" fmla="val 10000"/>
            </a:avLst>
          </a:prstGeom>
          <a:solidFill>
            <a:srgbClr val="F4F5F8"/>
          </a:solidFill>
          <a:ln w="12700">
            <a:solidFill>
              <a:srgbClr val="F4F5F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5349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現地に行く前の一次対応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75120" y="5669280"/>
            <a:ext cx="4693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クレーム対応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 </a:t>
            </a:r>
            <a:pPr indent="0" marL="0">
              <a:buNone/>
            </a:pPr>
            <a:r>
              <a:rPr lang="en-US" sz="18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駆けつけサービス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315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やること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誰が・いつまでに・何をやるか（10〜12月）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10545775" y="62636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/ 5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931920"/>
                <a:gridCol w="1828800"/>
                <a:gridCol w="1828800"/>
                <a:gridCol w="27733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No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やること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担当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期限（案）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完了の基準</a:t>
                      </a:r>
                      <a:endParaRPr lang="en-US" sz="14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31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01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物件入力・写真掲載をパートさんへ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臼井さん・川上さん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10月末 独り立ち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営業が入力・掲載をしない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31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02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会計をDFEへ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7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要記入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10月末 契約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 移管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社内の会計作業がほぼゼロ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8315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03</a:t>
                      </a:r>
                      <a:endParaRPr lang="en-US" sz="18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クレーム一次対応を駆けつけサービスへ</a:t>
                      </a:r>
                      <a:endParaRPr lang="en-US" sz="16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C77700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要記入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11月末 契約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12月 稼働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B2D42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営業時間中のクレームを社員が受けない</a:t>
                      </a:r>
                      <a:endParaRPr lang="en-US" sz="15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137160" marR="137160" marT="73152" marB="73152" anchor="ctr">
                    <a:lnL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892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要記入</a:t>
            </a:r>
            <a:pPr indent="0" marL="0">
              <a:buNone/>
            </a:pPr>
            <a:r>
              <a:rPr lang="en-US" sz="1200" dirty="0">
                <a:solidFill>
                  <a:srgbClr val="6B6E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＝発表までに埋める欄。期限は案。毎月末に売上と進み具合を確認します。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3492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F3DD"/>
          </a:solidFill>
          <a:ln w="12700">
            <a:solidFill>
              <a:srgbClr val="FFF3D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5349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77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会社に決めてほしいこと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5349240"/>
            <a:ext cx="73453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外注の予算枠（DFE・駆けつけサービス）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さくらハウジング 9月 進捗報告</dc:title>
  <dc:subject>PptxGenJS Presentation</dc:subject>
  <dc:creator>さくらハウジング</dc:creator>
  <cp:lastModifiedBy>さくらハウジング</cp:lastModifiedBy>
  <cp:revision>1</cp:revision>
  <dcterms:created xsi:type="dcterms:W3CDTF">2026-09-28T01:03:25Z</dcterms:created>
  <dcterms:modified xsi:type="dcterms:W3CDTF">2026-09-28T01:03:25Z</dcterms:modified>
</cp:coreProperties>
</file>