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に結論です。8月末の達成率は57.6%で、年間の計画ペースより約9ポイント遅れています。残り4ヶ月で月265万円が必要です。その原因は営業に使う時間が足りないことなので、時間を取り戻す3つの施策を10月から12月で実行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間目標2,500万円に対し、8月末で1,441万円、57.6%です。8ヶ月経過時点の計画ペースは66.7%なので、約9ポイント遅れています。残り1,059万円を4ヶ月で取るには月265万円が必要で、これまでの月平均180万円から約85万円の上積みが必要です。なお売買仲介手数料を含めると67.0%で、ほぼ計画どお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遅れの原因は、営業に使える時間が3つの業務に奪われていることです。会計業務に月40時間、ポータル掲載の手が回らない、クレームの突発対応で計画が崩れる。それぞれに対して、外注・専任パート・外部サービスで手を打ちます。広告費の見直しや業者との協議、課題の洗い出しはすでに終わ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具体的にやることは4つです。それぞれ担当・期限・完了の基準を決めました。「完了の基準」を満たしたかどうかで毎月確認します。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に契約と引き継ぎ、11月から会計外注とパートの単独稼働、12月にコールセンター等を稼働させます。最後に2点ご判断ください。外注3件の予算枠と、年間目標に仲介手数料を含めるかどうかです。含めるかどうかで、残り4ヶ月に必要な月額が206万円か265万円かに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B8C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さくらハウジング　2026年9月 進捗報告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目標まであと1,059万円。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「時間を取り戻す」3つの施策を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10〜12月で実行します。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069080"/>
            <a:ext cx="1188720" cy="420624"/>
          </a:xfrm>
          <a:prstGeom prst="roundRect">
            <a:avLst>
              <a:gd name="adj" fmla="val 17391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0690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4069080"/>
            <a:ext cx="9235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8月末 達成率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57.6%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（計画ペース 66.7%に対し −9.1pt）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754880"/>
            <a:ext cx="1188720" cy="420624"/>
          </a:xfrm>
          <a:prstGeom prst="roundRect">
            <a:avLst>
              <a:gd name="adj" fmla="val 17391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7548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4754880"/>
            <a:ext cx="9235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残り4ヶ月は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月265万円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の売上が必要（これまでの月平均は180万円）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5440680"/>
            <a:ext cx="1188720" cy="420624"/>
          </a:xfrm>
          <a:prstGeom prst="roundRect">
            <a:avLst>
              <a:gd name="adj" fmla="val 17391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4406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5440680"/>
            <a:ext cx="9235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会計の外注／ポータル掲載パートの戦力化／クレーム一次対応の外注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現状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計画より9ポイント遅れ。残り4ヶ月は月265万円が必要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172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858000" cy="4389120"/>
          </a:xfrm>
          <a:prstGeom prst="roundRect">
            <a:avLst>
              <a:gd name="adj" fmla="val 2500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年間目標 2,500万円 に対する達成率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57.6</a:t>
            </a:r>
            <a:pPr indent="0" marL="0">
              <a:buNone/>
            </a:pPr>
            <a:r>
              <a:rPr lang="en-US" sz="30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9260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 </a:t>
            </a:r>
            <a:pPr indent="0" marL="0">
              <a:buNone/>
            </a:pPr>
            <a:r>
              <a:rPr lang="en-US" sz="2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1,441</a:t>
            </a:r>
            <a:pPr indent="0" marL="0">
              <a:buNone/>
            </a:pPr>
            <a:r>
              <a:rPr lang="en-US" sz="16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4069080"/>
            <a:ext cx="6126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069080"/>
            <a:ext cx="3528852" cy="365760"/>
          </a:xfrm>
          <a:prstGeom prst="rect">
            <a:avLst/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0762" y="3840480"/>
            <a:ext cx="0" cy="822960"/>
          </a:xfrm>
          <a:prstGeom prst="line">
            <a:avLst/>
          </a:prstGeom>
          <a:noFill/>
          <a:ln w="19050">
            <a:solidFill>
              <a:srgbClr val="2B2D4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263402" y="35935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 −9.1pt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92202" y="4480560"/>
            <a:ext cx="19486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計画ペース 66.7%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（8/12ヶ月）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5120640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4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5120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参考：売買仲介手数料込みなら 1,675万円（67.0%）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687568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※計画ペースは年度を1〜12月と仮定して算出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69164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残り4ヶ月（9〜12月）に必要な売上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0" y="2103120"/>
            <a:ext cx="3870655" cy="685800"/>
          </a:xfrm>
          <a:prstGeom prst="roundRect">
            <a:avLst>
              <a:gd name="adj" fmla="val 13333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0100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これまでの月平均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0" y="2103120"/>
            <a:ext cx="1584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</a:t>
            </a:r>
            <a:pPr algn="r" indent="0" marL="0">
              <a:buNone/>
            </a:pPr>
            <a:r>
              <a:rPr lang="en-US" sz="13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7772400" y="3017520"/>
            <a:ext cx="3870655" cy="685800"/>
          </a:xfrm>
          <a:prstGeom prst="roundRect">
            <a:avLst>
              <a:gd name="adj" fmla="val 13333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01000" y="3017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当初の月目標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017520"/>
            <a:ext cx="1584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</a:t>
            </a:r>
            <a:pPr algn="r" indent="0" marL="0">
              <a:buNone/>
            </a:pPr>
            <a:r>
              <a:rPr lang="en-US" sz="13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3400" dirty="0"/>
          </a:p>
        </p:txBody>
      </p:sp>
      <p:sp>
        <p:nvSpPr>
          <p:cNvPr id="24" name="Shape 22"/>
          <p:cNvSpPr/>
          <p:nvPr/>
        </p:nvSpPr>
        <p:spPr>
          <a:xfrm>
            <a:off x="7772400" y="3931920"/>
            <a:ext cx="3870655" cy="685800"/>
          </a:xfrm>
          <a:prstGeom prst="roundRect">
            <a:avLst>
              <a:gd name="adj" fmla="val 13333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01000" y="39319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これから必要な月額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3931920"/>
            <a:ext cx="1584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265</a:t>
            </a:r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4892040"/>
            <a:ext cx="3870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 1,059万円 ÷ 4ヶ月 ＝ 月265万円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月平均より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約85万円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の上積みが必要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なぜ遅れているか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営業に使える時間が3つの業務に奪われている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172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33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課題（時間を奪っているもの）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29658" y="1645920"/>
            <a:ext cx="333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310677" y="1645920"/>
            <a:ext cx="333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狙う効果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29658" y="2057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FBE9EF"/>
          </a:solidFill>
          <a:ln w="12700">
            <a:solidFill>
              <a:srgbClr val="FBE9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10677" y="2057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E6F4ED"/>
          </a:solidFill>
          <a:ln w="12700">
            <a:solidFill>
              <a:srgbClr val="E6F4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057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会計業務に追われている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 約40時間が会計作業に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58258" y="2057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 </a:t>
            </a:r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会計業務を外注する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539277" y="2057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月40時間を営業に回す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18178" y="2354580"/>
            <a:ext cx="274320" cy="274320"/>
          </a:xfrm>
          <a:prstGeom prst="rightArrow">
            <a:avLst/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99197" y="2354580"/>
            <a:ext cx="274320" cy="274320"/>
          </a:xfrm>
          <a:prstGeom prst="rightArrow">
            <a:avLst/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200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29658" y="3200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FBE9EF"/>
          </a:solidFill>
          <a:ln w="12700">
            <a:solidFill>
              <a:srgbClr val="FB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10677" y="3200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E6F4ED"/>
          </a:solidFill>
          <a:ln w="12700">
            <a:solidFill>
              <a:srgbClr val="E6F4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200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ポータル掲載が追いつかない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集客の要なのに更新の時間がない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58258" y="3200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 </a:t>
            </a:r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掲載専任パートを戦力化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（9/18採用済）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539277" y="3200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掲載スピードUP → 反響UP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018178" y="3497580"/>
            <a:ext cx="274320" cy="274320"/>
          </a:xfrm>
          <a:prstGeom prst="rightArrow">
            <a:avLst/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99197" y="3497580"/>
            <a:ext cx="274320" cy="274320"/>
          </a:xfrm>
          <a:prstGeom prst="rightArrow">
            <a:avLst/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343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29658" y="4343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FBE9EF"/>
          </a:solidFill>
          <a:ln w="12700">
            <a:solidFill>
              <a:srgbClr val="FBE9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10677" y="4343400"/>
            <a:ext cx="3332378" cy="868680"/>
          </a:xfrm>
          <a:prstGeom prst="roundRect">
            <a:avLst>
              <a:gd name="adj" fmla="val 10526"/>
            </a:avLst>
          </a:prstGeom>
          <a:solidFill>
            <a:srgbClr val="E6F4ED"/>
          </a:solidFill>
          <a:ln w="12700">
            <a:solidFill>
              <a:srgbClr val="E6F4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343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クレームで仕事が中断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突発対応で1日の計画が崩れる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658258" y="4343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 </a:t>
            </a:r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コールセンター・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駆けつけを外注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539277" y="434340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一次対応を外に出し、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8B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計画どおり動ける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018178" y="4640580"/>
            <a:ext cx="274320" cy="274320"/>
          </a:xfrm>
          <a:prstGeom prst="rightArrow">
            <a:avLst/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99197" y="4640580"/>
            <a:ext cx="274320" cy="274320"/>
          </a:xfrm>
          <a:prstGeom prst="rightArrow">
            <a:avLst/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4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48640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準備済み</a:t>
            </a:r>
            <a:pPr indent="0" marL="0">
              <a:buNone/>
            </a:pPr>
            <a:r>
              <a:rPr lang="en-US" sz="13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広告料・販促物の見直し ／ 専門業者との協議 ／ 現場課題の洗い出し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やること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誰が・いつまでに・何をやれば完了か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172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931920"/>
                <a:gridCol w="1371600"/>
                <a:gridCol w="2011680"/>
                <a:gridCol w="30934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期限（案）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完了の基準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31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01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会計業務の外注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E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見積比較 → 外注先決定 → 10月分から移管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要記入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10月末 契約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 移管完了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社内の会計作業 月40h → ほぼゼロ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31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02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ポータル掲載パートの戦力化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E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掲載手順を引き継ぎ、単独で更新できる状態に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要記入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10月末 独り立ち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掲載件数・反響数が月目標に到達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（目標値：要記入）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31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03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コールセンター・駆けつけの外注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E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業者比較 → 契約 → 入居者・オーナーへ周知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要記入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11月末 契約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12月 稼働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営業時間中のクレーム一次対応を社員が受けない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31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04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売上の進捗確認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E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月265万円に届いているかを毎月チェック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要記入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毎月末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月次で目標との差と次の手を報告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864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要記入</a:t>
            </a:r>
            <a:pPr indent="0" marL="0">
              <a:buNone/>
            </a:pPr>
            <a:r>
              <a:rPr lang="en-US" sz="12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＝発表までに埋める欄。期限は案なので、実態に合わせて修正してください。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スケジュール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10〜12月の3ヶ月で、3施策をすべて稼働させる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172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474720" y="1645920"/>
            <a:ext cx="2722778" cy="384048"/>
          </a:xfrm>
          <a:prstGeom prst="rect">
            <a:avLst/>
          </a:prstGeom>
          <a:solidFill>
            <a:srgbClr val="2B2D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164592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498" y="1645920"/>
            <a:ext cx="2722778" cy="384048"/>
          </a:xfrm>
          <a:prstGeom prst="rect">
            <a:avLst/>
          </a:prstGeom>
          <a:solidFill>
            <a:srgbClr val="2B2D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97498" y="164592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920277" y="1645920"/>
            <a:ext cx="2722778" cy="384048"/>
          </a:xfrm>
          <a:prstGeom prst="rect">
            <a:avLst/>
          </a:prstGeom>
          <a:solidFill>
            <a:srgbClr val="2B2D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20277" y="1645920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121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 </a:t>
            </a:r>
            <a:pPr indent="0" marL="0"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会計の外注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70048"/>
            <a:ext cx="11094415" cy="0"/>
          </a:xfrm>
          <a:prstGeom prst="line">
            <a:avLst/>
          </a:prstGeom>
          <a:noFill/>
          <a:ln w="12700">
            <a:solidFill>
              <a:srgbClr val="E3E4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700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 </a:t>
            </a:r>
            <a:pPr indent="0" marL="0"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掲載パート戦力化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18688"/>
            <a:ext cx="11094415" cy="0"/>
          </a:xfrm>
          <a:prstGeom prst="line">
            <a:avLst/>
          </a:prstGeom>
          <a:noFill/>
          <a:ln w="12700">
            <a:solidFill>
              <a:srgbClr val="E3E4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186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 </a:t>
            </a:r>
            <a:pPr indent="0" marL="0"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コールセンター等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767328"/>
            <a:ext cx="11094415" cy="0"/>
          </a:xfrm>
          <a:prstGeom prst="line">
            <a:avLst/>
          </a:prstGeom>
          <a:noFill/>
          <a:ln w="12700">
            <a:solidFill>
              <a:srgbClr val="E3E4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673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 </a:t>
            </a:r>
            <a:pPr indent="0" marL="0">
              <a:buNone/>
            </a:pPr>
            <a:r>
              <a:rPr lang="en-US" sz="14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進捗確認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315968"/>
            <a:ext cx="11094415" cy="0"/>
          </a:xfrm>
          <a:prstGeom prst="line">
            <a:avLst/>
          </a:prstGeom>
          <a:noFill/>
          <a:ln w="12700">
            <a:solidFill>
              <a:srgbClr val="E3E4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9584" y="2212848"/>
            <a:ext cx="2613050" cy="365760"/>
          </a:xfrm>
          <a:prstGeom prst="roundRect">
            <a:avLst>
              <a:gd name="adj" fmla="val 15000"/>
            </a:avLst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66744" y="2212848"/>
            <a:ext cx="23387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見積・契約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52362" y="2212848"/>
            <a:ext cx="5335829" cy="365760"/>
          </a:xfrm>
          <a:prstGeom prst="roundRect">
            <a:avLst>
              <a:gd name="adj" fmla="val 15000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9522" y="2212848"/>
            <a:ext cx="5061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外注で運用（月40h創出）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29584" y="2761488"/>
            <a:ext cx="2613050" cy="365760"/>
          </a:xfrm>
          <a:prstGeom prst="roundRect">
            <a:avLst>
              <a:gd name="adj" fmla="val 15000"/>
            </a:avLst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66744" y="2761488"/>
            <a:ext cx="23387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引き継ぎ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52362" y="2761488"/>
            <a:ext cx="5335829" cy="365760"/>
          </a:xfrm>
          <a:prstGeom prst="roundRect">
            <a:avLst>
              <a:gd name="adj" fmla="val 15000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89522" y="2761488"/>
            <a:ext cx="5061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単独で掲載・反響を追う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29584" y="3310128"/>
            <a:ext cx="5335829" cy="365760"/>
          </a:xfrm>
          <a:prstGeom prst="roundRect">
            <a:avLst>
              <a:gd name="adj" fmla="val 15000"/>
            </a:avLst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66744" y="3310128"/>
            <a:ext cx="5061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業者比較・契約・周知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975141" y="3310128"/>
            <a:ext cx="2613050" cy="365760"/>
          </a:xfrm>
          <a:prstGeom prst="roundRect">
            <a:avLst>
              <a:gd name="adj" fmla="val 15000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2301" y="3310128"/>
            <a:ext cx="23387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868314" y="3922776"/>
            <a:ext cx="237744" cy="237744"/>
          </a:xfrm>
          <a:prstGeom prst="ellipse">
            <a:avLst/>
          </a:prstGeom>
          <a:solidFill>
            <a:srgbClr val="2E8B62"/>
          </a:solidFill>
          <a:ln w="12700">
            <a:solidFill>
              <a:srgbClr val="2E8B6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91093" y="3922776"/>
            <a:ext cx="237744" cy="237744"/>
          </a:xfrm>
          <a:prstGeom prst="ellipse">
            <a:avLst/>
          </a:prstGeom>
          <a:solidFill>
            <a:srgbClr val="2E8B62"/>
          </a:solidFill>
          <a:ln w="12700">
            <a:solidFill>
              <a:srgbClr val="2E8B6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313871" y="3922776"/>
            <a:ext cx="237744" cy="237744"/>
          </a:xfrm>
          <a:prstGeom prst="ellipse">
            <a:avLst/>
          </a:prstGeom>
          <a:solidFill>
            <a:srgbClr val="2E8B62"/>
          </a:solidFill>
          <a:ln w="12700">
            <a:solidFill>
              <a:srgbClr val="2E8B6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74720" y="4507992"/>
            <a:ext cx="164592" cy="164592"/>
          </a:xfrm>
          <a:prstGeom prst="ellipse">
            <a:avLst/>
          </a:prstGeom>
          <a:solidFill>
            <a:srgbClr val="2E8B62"/>
          </a:solidFill>
          <a:ln w="12700">
            <a:solidFill>
              <a:srgbClr val="2E8B6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30752" y="4453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8B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月末に売上と進捗を確認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4956048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FFF3DD"/>
          </a:solidFill>
          <a:ln w="12700">
            <a:solidFill>
              <a:srgbClr val="FFF3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4956048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会社に決めてほしいこと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4956048"/>
            <a:ext cx="8168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 外注3件（会計・コールセンター・駆けつけ）の予算枠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 年間目標に売買仲介手数料を含めるか（含めれば月206万円、含めなければ月265万円が必要）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さくらハウジング 9月 進捗報告</dc:title>
  <dc:subject>PptxGenJS Presentation</dc:subject>
  <dc:creator>さくらハウジング</dc:creator>
  <cp:lastModifiedBy>さくらハウジング</cp:lastModifiedBy>
  <cp:revision>1</cp:revision>
  <dcterms:created xsi:type="dcterms:W3CDTF">2026-09-28T00:31:44Z</dcterms:created>
  <dcterms:modified xsi:type="dcterms:W3CDTF">2026-09-28T00:31:44Z</dcterms:modified>
</cp:coreProperties>
</file>