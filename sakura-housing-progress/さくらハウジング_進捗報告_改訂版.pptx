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に結論です。8月末の売上は1,675万円、達成率67.0%で、計画ペースを上回っています。このままいけば昨年の2,400万円を超えるペースです。特にAD・付帯商品が大きく伸びています。この流れを確実にするために、営業が営業に集中できる仕組みを10月から12月でつ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間目標2,500万円に対し、8月末で1,675万円、達成率67.0%です。8ヶ月経過時点の計画ペース66.7%を上回っています。このペースで行けば年間で約2,510万円、昨年の2,400万円を約110万円上回る見込みです。残り4ヶ月は月206万円で目標達成で、これまでの月平均209万円なら届く水準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売上の伸びを引っ張っているのはADと付帯商品です。昨年の同じ時期と比べて、この2つの上がり幅が大きくなっています。この伸びを続けるには、営業がお客様と向き合う時間を増やすことが一番の近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具体的にやることは3つです。会計はDFEに外注、写真撮影と入力は9月に採用したパートさんにお願いし、クレームの一次対応はコールセンターと駆けつけ業者に任せます。それぞれ担当・期限・完了の基準を決め、毎月の会議で確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に契約と引き継ぎ、11月から会計はDFE、写真撮影・入力はパートさんで回し、12月にクレーム一次対応の外注を稼働させます。最後に1点ご判断ください。DFEとコールセンター・駆けつけの外注の予算枠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B8C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さくらハウジング　2026年9月 進捗報告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昨年を上回るペースで進んでいます。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営業に集中できる仕組みをつくり、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年間2,500万円を達成します。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069080"/>
            <a:ext cx="1188720" cy="420624"/>
          </a:xfrm>
          <a:prstGeom prst="roundRect">
            <a:avLst>
              <a:gd name="adj" fmla="val 17391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0690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4069080"/>
            <a:ext cx="9235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8月末 1,675万円（達成率 67.0%）　計画ペース 66.7%を上回る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754880"/>
            <a:ext cx="1188720" cy="420624"/>
          </a:xfrm>
          <a:prstGeom prst="roundRect">
            <a:avLst>
              <a:gd name="adj" fmla="val 17391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7548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伸び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4754880"/>
            <a:ext cx="9235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AD・付帯商品の上がり幅が大きい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5440680"/>
            <a:ext cx="1188720" cy="420624"/>
          </a:xfrm>
          <a:prstGeom prst="roundRect">
            <a:avLst>
              <a:gd name="adj" fmla="val 17391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4406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5440680"/>
            <a:ext cx="9235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会計はDFEへ／写真撮影・入力はパートさんへ／クレーム一次対応は外注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現状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計画を上回り、昨年を超えるペース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545775" y="62179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454298" cy="2514600"/>
          </a:xfrm>
          <a:prstGeom prst="roundRect">
            <a:avLst>
              <a:gd name="adj" fmla="val 4364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57400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8月末 達成率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67.0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%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657600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計画ペース 66.7%（+0.3pt）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68698" y="1783080"/>
            <a:ext cx="3454298" cy="2514600"/>
          </a:xfrm>
          <a:prstGeom prst="roundRect">
            <a:avLst>
              <a:gd name="adj" fmla="val 4364"/>
            </a:avLst>
          </a:prstGeom>
          <a:solidFill>
            <a:srgbClr val="F4F5F8"/>
          </a:solidFill>
          <a:ln w="12700">
            <a:solidFill>
              <a:srgbClr val="F4F5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057400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このペースでの年間見込み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88738" y="2514600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</a:t>
            </a:r>
            <a:pPr indent="0" marL="0">
              <a:buNone/>
            </a:pPr>
            <a:r>
              <a:rPr lang="en-US" sz="48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2,510</a:t>
            </a:r>
            <a:pPr indent="0" marL="0">
              <a:buNone/>
            </a:pPr>
            <a:r>
              <a:rPr lang="en-US" sz="20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万円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88738" y="3657600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年間目標 2,500万円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88757" y="1783080"/>
            <a:ext cx="3454298" cy="2514600"/>
          </a:xfrm>
          <a:prstGeom prst="roundRect">
            <a:avLst>
              <a:gd name="adj" fmla="val 4364"/>
            </a:avLst>
          </a:prstGeom>
          <a:solidFill>
            <a:srgbClr val="F4F5F8"/>
          </a:solidFill>
          <a:ln w="12700">
            <a:solidFill>
              <a:srgbClr val="F4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08797" y="2057400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昨年の年間売上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508797" y="2514600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2,400</a:t>
            </a:r>
            <a:pPr indent="0" marL="0">
              <a:buNone/>
            </a:pPr>
            <a:r>
              <a:rPr lang="en-US" sz="20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万円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8508797" y="3657600"/>
            <a:ext cx="2814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見込みは昨年より 約+110万円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66344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6F4ED"/>
          </a:solidFill>
          <a:ln w="12700">
            <a:solidFill>
              <a:srgbClr val="E6F4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66344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6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残り4ヶ月は 月206万円 で目標達成</a:t>
            </a:r>
            <a:pPr indent="0" marL="0">
              <a:buNone/>
            </a:pPr>
            <a:r>
              <a:rPr lang="en-US" sz="18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（これまでの月平均 209万円）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※売上は売買仲介手数料を含む。計画ペースは年度を1〜12月と仮定して算出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伸びている理由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伸びを引っ張っているのは AD・付帯商品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545775" y="62179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6949440" cy="4297680"/>
          </a:xfrm>
          <a:prstGeom prst="roundRect">
            <a:avLst>
              <a:gd name="adj" fmla="val 2553"/>
            </a:avLst>
          </a:prstGeom>
          <a:solidFill>
            <a:srgbClr val="FFF3DD"/>
          </a:solidFill>
          <a:ln w="12700">
            <a:solidFill>
              <a:srgbClr val="FFF3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645920"/>
            <a:ext cx="60350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積み上げ棒グラフ：要記入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build.js の MIX に、昨年・今年（1〜8月）の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売上合計・AD・付帯商品の金額を入れて再生成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645920"/>
            <a:ext cx="3687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昨年同期（1〜8月）からの上がり幅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955280" y="2148840"/>
            <a:ext cx="3687775" cy="1097280"/>
          </a:xfrm>
          <a:prstGeom prst="roundRect">
            <a:avLst>
              <a:gd name="adj" fmla="val 10000"/>
            </a:avLst>
          </a:prstGeom>
          <a:solidFill>
            <a:srgbClr val="F4F5F8"/>
          </a:solidFill>
          <a:ln w="12700">
            <a:solidFill>
              <a:srgbClr val="F4F5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0" y="2368296"/>
            <a:ext cx="182880" cy="182880"/>
          </a:xfrm>
          <a:prstGeom prst="ellipse">
            <a:avLst/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286000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2606040"/>
            <a:ext cx="3139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要記入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55280" y="3520440"/>
            <a:ext cx="3687775" cy="1097280"/>
          </a:xfrm>
          <a:prstGeom prst="roundRect">
            <a:avLst>
              <a:gd name="adj" fmla="val 10000"/>
            </a:avLst>
          </a:prstGeom>
          <a:solidFill>
            <a:srgbClr val="F4F5F8"/>
          </a:solidFill>
          <a:ln w="12700">
            <a:solidFill>
              <a:srgbClr val="F4F5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3739896"/>
            <a:ext cx="182880" cy="182880"/>
          </a:xfrm>
          <a:prstGeom prst="ellipse">
            <a:avLst/>
          </a:prstGeom>
          <a:solidFill>
            <a:srgbClr val="E88AA8"/>
          </a:solidFill>
          <a:ln w="12700">
            <a:solidFill>
              <a:srgbClr val="E88AA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03920" y="3657600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付帯商品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977640"/>
            <a:ext cx="3139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要記入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4983480"/>
            <a:ext cx="3687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この伸びを続けるため、営業が接客・提案に使える時間を増やす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やること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営業に集中できる仕組みを3つつくる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545775" y="62179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114800"/>
                <a:gridCol w="1463040"/>
                <a:gridCol w="2011680"/>
                <a:gridCol w="27733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期限（案）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完了の基準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831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01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会計をDFEに外注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E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見積 → 契約 → 10月分から移管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777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要記入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10月末 契約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11月 移管完了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社内の会計作業がほぼゼロ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831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02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写真撮影・入力をパートさんへ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E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9/18採用のパートさんに手順を引き継ぐ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777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要記入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10月末 独り立ち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営業が撮影・入力をしない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831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03</a:t>
                      </a:r>
                      <a:endParaRPr lang="en-US" sz="1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クレーム一次対応を外注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6E8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コールセンター・駆けつけ業者と契約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777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要記入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11月末 契約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12月 稼働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B2D4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営業時間中のクレームを社員が受けない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4406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要記入</a:t>
            </a:r>
            <a:pPr indent="0" marL="0">
              <a:buNone/>
            </a:pPr>
            <a:r>
              <a:rPr lang="en-US" sz="12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＝発表までに埋める欄。期限は案なので、実態に合わせて修正してください。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スケジュール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10〜12月で、3つとも動かす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545775" y="62179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840480" y="1691640"/>
            <a:ext cx="2600858" cy="411480"/>
          </a:xfrm>
          <a:prstGeom prst="rect">
            <a:avLst/>
          </a:prstGeom>
          <a:solidFill>
            <a:srgbClr val="2B2D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840480" y="1691640"/>
            <a:ext cx="2600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41338" y="1691640"/>
            <a:ext cx="2600858" cy="411480"/>
          </a:xfrm>
          <a:prstGeom prst="rect">
            <a:avLst/>
          </a:prstGeom>
          <a:solidFill>
            <a:srgbClr val="2B2D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1338" y="1691640"/>
            <a:ext cx="2600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042197" y="1691640"/>
            <a:ext cx="2600858" cy="411480"/>
          </a:xfrm>
          <a:prstGeom prst="rect">
            <a:avLst/>
          </a:prstGeom>
          <a:solidFill>
            <a:srgbClr val="2B2D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042197" y="1691640"/>
            <a:ext cx="2600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194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 </a:t>
            </a:r>
            <a:pPr indent="0" marL="0"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 → DFE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11094415" cy="0"/>
          </a:xfrm>
          <a:prstGeom prst="line">
            <a:avLst/>
          </a:prstGeom>
          <a:noFill/>
          <a:ln w="12700">
            <a:solidFill>
              <a:srgbClr val="E3E4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834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 </a:t>
            </a:r>
            <a:pPr indent="0" marL="0"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写真撮影・入力 → パート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11094415" cy="0"/>
          </a:xfrm>
          <a:prstGeom prst="line">
            <a:avLst/>
          </a:prstGeom>
          <a:noFill/>
          <a:ln w="12700">
            <a:solidFill>
              <a:srgbClr val="E3E4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4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31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 </a:t>
            </a:r>
            <a:pPr indent="0" marL="0">
              <a:buNone/>
            </a:pPr>
            <a:r>
              <a:rPr lang="en-US" sz="15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クレーム一次対応 → 外注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11094415" cy="0"/>
          </a:xfrm>
          <a:prstGeom prst="line">
            <a:avLst/>
          </a:prstGeom>
          <a:noFill/>
          <a:ln w="12700">
            <a:solidFill>
              <a:srgbClr val="E3E4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95344" y="2304288"/>
            <a:ext cx="2491130" cy="420624"/>
          </a:xfrm>
          <a:prstGeom prst="roundRect">
            <a:avLst>
              <a:gd name="adj" fmla="val 13043"/>
            </a:avLst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32504" y="2304288"/>
            <a:ext cx="22168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見積・契約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96202" y="2304288"/>
            <a:ext cx="5091989" cy="420624"/>
          </a:xfrm>
          <a:prstGeom prst="roundRect">
            <a:avLst>
              <a:gd name="adj" fmla="val 13043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33362" y="2304288"/>
            <a:ext cx="48176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DFEで運用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95344" y="2944368"/>
            <a:ext cx="2491130" cy="420624"/>
          </a:xfrm>
          <a:prstGeom prst="roundRect">
            <a:avLst>
              <a:gd name="adj" fmla="val 13043"/>
            </a:avLst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032504" y="2944368"/>
            <a:ext cx="22168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引き継ぎ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96202" y="2944368"/>
            <a:ext cx="5091989" cy="420624"/>
          </a:xfrm>
          <a:prstGeom prst="roundRect">
            <a:avLst>
              <a:gd name="adj" fmla="val 13043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33362" y="2944368"/>
            <a:ext cx="48176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パートさんが担当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895344" y="3584448"/>
            <a:ext cx="5091989" cy="420624"/>
          </a:xfrm>
          <a:prstGeom prst="roundRect">
            <a:avLst>
              <a:gd name="adj" fmla="val 13043"/>
            </a:avLst>
          </a:prstGeom>
          <a:solidFill>
            <a:srgbClr val="F2B8CA"/>
          </a:solidFill>
          <a:ln w="12700">
            <a:solidFill>
              <a:srgbClr val="F2B8C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32504" y="3584448"/>
            <a:ext cx="48176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業者選び・契約・周知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97061" y="3584448"/>
            <a:ext cx="2491130" cy="420624"/>
          </a:xfrm>
          <a:prstGeom prst="roundRect">
            <a:avLst>
              <a:gd name="adj" fmla="val 13043"/>
            </a:avLst>
          </a:prstGeom>
          <a:solidFill>
            <a:srgbClr val="C8315F"/>
          </a:solidFill>
          <a:ln w="12700">
            <a:solidFill>
              <a:srgbClr val="C8315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34221" y="3584448"/>
            <a:ext cx="22168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251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毎月末に売上と進み具合を確認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484632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FFF3DD"/>
          </a:solidFill>
          <a:ln w="12700">
            <a:solidFill>
              <a:srgbClr val="FFF3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48463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7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会社に決めてほしいこと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4846320"/>
            <a:ext cx="74368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外注の予算枠（DFE・コールセンター・駆けつけ）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さくらハウジング 9月 進捗報告</dc:title>
  <dc:subject>PptxGenJS Presentation</dc:subject>
  <dc:creator>さくらハウジング</dc:creator>
  <cp:lastModifiedBy>さくらハウジング</cp:lastModifiedBy>
  <cp:revision>1</cp:revision>
  <dcterms:created xsi:type="dcterms:W3CDTF">2026-09-28T00:45:43Z</dcterms:created>
  <dcterms:modified xsi:type="dcterms:W3CDTF">2026-09-28T00:45:43Z</dcterms:modified>
</cp:coreProperties>
</file>